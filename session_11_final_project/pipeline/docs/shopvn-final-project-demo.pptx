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47c18f64bf4c5d" /><Relationship Type="http://schemas.openxmlformats.org/officeDocument/2006/relationships/extended-properties" Target="/docProps/app.xml" Id="Rc93703b35a9a460e" /><Relationship Type="http://schemas.openxmlformats.org/officeDocument/2006/relationships/officeDocument" Target="/ppt/presentation.xml" Id="R4c0d552329b642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59df13d5564beb"/>
  </p:sldMasterIdLst>
  <p:notesMasterIdLst>
    <p:notesMasterId xmlns:r="http://schemas.openxmlformats.org/officeDocument/2006/relationships" r:id="Raab6bd6179404b93"/>
  </p:notesMasterIdLst>
  <p:sldIdLst>
    <p:sldId xmlns:r="http://schemas.openxmlformats.org/officeDocument/2006/relationships" id="256" r:id="Rbee7833b46414348"/>
    <p:sldId xmlns:r="http://schemas.openxmlformats.org/officeDocument/2006/relationships" id="257" r:id="Ra9ed80d2901d45a4"/>
    <p:sldId xmlns:r="http://schemas.openxmlformats.org/officeDocument/2006/relationships" id="258" r:id="R8ee6b64ed5684dc4"/>
    <p:sldId xmlns:r="http://schemas.openxmlformats.org/officeDocument/2006/relationships" id="259" r:id="Rc0b5bfede4584382"/>
    <p:sldId xmlns:r="http://schemas.openxmlformats.org/officeDocument/2006/relationships" id="260" r:id="R65fe72b69bfc4549"/>
    <p:sldId xmlns:r="http://schemas.openxmlformats.org/officeDocument/2006/relationships" id="261" r:id="R0d3446c1305c43b2"/>
    <p:sldId xmlns:r="http://schemas.openxmlformats.org/officeDocument/2006/relationships" id="262" r:id="R722764e19ffd4f7d"/>
    <p:sldId xmlns:r="http://schemas.openxmlformats.org/officeDocument/2006/relationships" id="263" r:id="R58b1c88187a74a46"/>
    <p:sldId xmlns:r="http://schemas.openxmlformats.org/officeDocument/2006/relationships" id="264" r:id="Reb4b4012057645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6df7d933e24c90" /><Relationship Type="http://schemas.openxmlformats.org/officeDocument/2006/relationships/slideMaster" Target="/ppt/slideMasters/slideMaster1.xml" Id="R1859df13d5564beb" /><Relationship Type="http://schemas.openxmlformats.org/officeDocument/2006/relationships/notesMaster" Target="/ppt/notesMasters/notesMaster1.xml" Id="Raab6bd6179404b93" /><Relationship Type="http://schemas.openxmlformats.org/officeDocument/2006/relationships/presProps" Target="/ppt/presProps.xml" Id="Rd76b4ce7fd5849b7" /><Relationship Type="http://schemas.openxmlformats.org/officeDocument/2006/relationships/tableStyles" Target="/ppt/tableStyles.xml" Id="R2fa520bd01004ac5" /><Relationship Type="http://schemas.openxmlformats.org/officeDocument/2006/relationships/slide" Target="/ppt/slides/slide1.xml" Id="Rbee7833b46414348" /><Relationship Type="http://schemas.openxmlformats.org/officeDocument/2006/relationships/slide" Target="/ppt/slides/slide2.xml" Id="Ra9ed80d2901d45a4" /><Relationship Type="http://schemas.openxmlformats.org/officeDocument/2006/relationships/slide" Target="/ppt/slides/slide3.xml" Id="R8ee6b64ed5684dc4" /><Relationship Type="http://schemas.openxmlformats.org/officeDocument/2006/relationships/slide" Target="/ppt/slides/slide4.xml" Id="Rc0b5bfede4584382" /><Relationship Type="http://schemas.openxmlformats.org/officeDocument/2006/relationships/slide" Target="/ppt/slides/slide5.xml" Id="R65fe72b69bfc4549" /><Relationship Type="http://schemas.openxmlformats.org/officeDocument/2006/relationships/slide" Target="/ppt/slides/slide6.xml" Id="R0d3446c1305c43b2" /><Relationship Type="http://schemas.openxmlformats.org/officeDocument/2006/relationships/slide" Target="/ppt/slides/slide7.xml" Id="R722764e19ffd4f7d" /><Relationship Type="http://schemas.openxmlformats.org/officeDocument/2006/relationships/slide" Target="/ppt/slides/slide8.xml" Id="R58b1c88187a74a46" /><Relationship Type="http://schemas.openxmlformats.org/officeDocument/2006/relationships/slide" Target="/ppt/slides/slide9.xml" Id="Reb4b4012057645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49884e51a84f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15a2e1f4bc4111" /><Relationship Type="http://schemas.openxmlformats.org/officeDocument/2006/relationships/notesMaster" Target="/ppt/notesMasters/notesMaster1.xml" Id="R76bdc6dd3d6b4d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69403abe57444a" /><Relationship Type="http://schemas.openxmlformats.org/officeDocument/2006/relationships/notesMaster" Target="/ppt/notesMasters/notesMaster1.xml" Id="R0dbe2aa0b7bf42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18a72b018a4fa2" /><Relationship Type="http://schemas.openxmlformats.org/officeDocument/2006/relationships/notesMaster" Target="/ppt/notesMasters/notesMaster1.xml" Id="Rdfd43ee7a85642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4e1be2d6084c9a" /><Relationship Type="http://schemas.openxmlformats.org/officeDocument/2006/relationships/notesMaster" Target="/ppt/notesMasters/notesMaster1.xml" Id="R78dec69016bd41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4fd295c7744458" /><Relationship Type="http://schemas.openxmlformats.org/officeDocument/2006/relationships/notesMaster" Target="/ppt/notesMasters/notesMaster1.xml" Id="Rfd566cdf62f54c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73c4ab54f6403b" /><Relationship Type="http://schemas.openxmlformats.org/officeDocument/2006/relationships/notesMaster" Target="/ppt/notesMasters/notesMaster1.xml" Id="Ra207e60b035742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59c7987b87411b" /><Relationship Type="http://schemas.openxmlformats.org/officeDocument/2006/relationships/notesMaster" Target="/ppt/notesMasters/notesMaster1.xml" Id="R727b9f1281be40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16e33232ed4123" /><Relationship Type="http://schemas.openxmlformats.org/officeDocument/2006/relationships/notesMaster" Target="/ppt/notesMasters/notesMaster1.xml" Id="R0a77d3e5728e42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88f481eb55435b" /><Relationship Type="http://schemas.openxmlformats.org/officeDocument/2006/relationships/notesMaster" Target="/ppt/notesMasters/notesMaster1.xml" Id="R7b94c455cbf343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session_11_final_project/01_project_requirements.md</a:t>
            </a:r>
          </a:p>
          <a:p xmlns:a="http://schemas.openxmlformats.org/drawingml/2006/main">
            <a:r>
              <a:t>- session_11_final_project/pipeline/docs/design-document.md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session_11_final_project/01_project_requirements.md, Sections 1–5</a:t>
            </a:r>
          </a:p>
          <a:p xmlns:a="http://schemas.openxmlformats.org/drawingml/2006/main">
            <a:r>
              <a:t>- session_11_final_project/02_dataset_guide.md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session_11_final_project/pipeline/docker-compose.yml</a:t>
            </a:r>
          </a:p>
          <a:p xmlns:a="http://schemas.openxmlformats.org/drawingml/2006/main">
            <a:r>
              <a:t>- session_11_final_project/pipeline/dags/shopvn_daily.py</a:t>
            </a:r>
          </a:p>
          <a:p xmlns:a="http://schemas.openxmlformats.org/drawingml/2006/main">
            <a:r>
              <a:t>- session_11_final_project/pipeline/docs/design-document.md, Sections 3–4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session_11_final_project/pipeline/spark/jobs/publication/publish_gold.py</a:t>
            </a:r>
          </a:p>
          <a:p xmlns:a="http://schemas.openxmlformats.org/drawingml/2006/main">
            <a:r>
              <a:t>- session_11_final_project/pipeline/spark/jobs/validation/validate_gold_candidates.py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session_11_final_project/pipeline/contracts/models/gold_models.yaml</a:t>
            </a:r>
          </a:p>
          <a:p xmlns:a="http://schemas.openxmlformats.org/drawingml/2006/main">
            <a:r>
              <a:t>- session_11_final_project/pipeline/spark/jobs/transformation/gold/registry.py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session_11_final_project/01_project_requirements.md, Section 5</a:t>
            </a:r>
          </a:p>
          <a:p xmlns:a="http://schemas.openxmlformats.org/drawingml/2006/main">
            <a:r>
              <a:t>- session_11_final_project/pipeline/docs/runbook.md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session_11_final_project/pipeline/contracts/README.md</a:t>
            </a:r>
          </a:p>
          <a:p xmlns:a="http://schemas.openxmlformats.org/drawingml/2006/main">
            <a:r>
              <a:t>- session_11_final_project/pipeline/spark/jobs/common/audit.py</a:t>
            </a:r>
          </a:p>
          <a:p xmlns:a="http://schemas.openxmlformats.org/drawingml/2006/main">
            <a:r>
              <a:t>- session_11_final_project/pipeline/docs/validation-plan.md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validation commands executed on 2026-08-15</a:t>
            </a:r>
          </a:p>
          <a:p xmlns:a="http://schemas.openxmlformats.org/drawingml/2006/main">
            <a:r>
              <a:t>- session_11_final_project/pipeline/docs/validation-plan.md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session_11_final_project/guideline/review.md</a:t>
            </a:r>
          </a:p>
          <a:p xmlns:a="http://schemas.openxmlformats.org/drawingml/2006/main">
            <a:r>
              <a:t>- session_11_final_project/pipeline/README.md</a:t>
            </a:r>
          </a:p>
          <a:p xmlns:a="http://schemas.openxmlformats.org/drawingml/2006/main">
            <a:r>
              <a:t>- session_11_final_project/pipeline/docs/validation-plan.md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523e1d71434f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1f411c18ef46ba" /><Relationship Type="http://schemas.openxmlformats.org/officeDocument/2006/relationships/slideLayout" Target="/ppt/slideLayouts/slideLayout1.xml" Id="Rc95586b3624f4e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5586b3624f4e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6d3213fc84106" /><Relationship Type="http://schemas.openxmlformats.org/officeDocument/2006/relationships/notesSlide" Target="/ppt/notesSlides/notesSlide1.xml" Id="R207012561c554f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eaf873a70446d" /><Relationship Type="http://schemas.openxmlformats.org/officeDocument/2006/relationships/notesSlide" Target="/ppt/notesSlides/notesSlide2.xml" Id="R28147ae8fa6d4f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7d50d61484418" /><Relationship Type="http://schemas.openxmlformats.org/officeDocument/2006/relationships/notesSlide" Target="/ppt/notesSlides/notesSlide3.xml" Id="R6351371a0c3b40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4b5389bd5485a" /><Relationship Type="http://schemas.openxmlformats.org/officeDocument/2006/relationships/notesSlide" Target="/ppt/notesSlides/notesSlide4.xml" Id="Rba85729acfe040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37d2782934b53" /><Relationship Type="http://schemas.openxmlformats.org/officeDocument/2006/relationships/notesSlide" Target="/ppt/notesSlides/notesSlide5.xml" Id="R923fbf5da35b45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4bdadf2124478" /><Relationship Type="http://schemas.openxmlformats.org/officeDocument/2006/relationships/notesSlide" Target="/ppt/notesSlides/notesSlide6.xml" Id="Rdf4ada02f3fa41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0a96326b04da1" /><Relationship Type="http://schemas.openxmlformats.org/officeDocument/2006/relationships/notesSlide" Target="/ppt/notesSlides/notesSlide7.xml" Id="R1571093b0cd143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8d4760bb74401" /><Relationship Type="http://schemas.openxmlformats.org/officeDocument/2006/relationships/notesSlide" Target="/ppt/notesSlides/notesSlide8.xml" Id="R35064845de8d4d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f65a124484526" /><Relationship Type="http://schemas.openxmlformats.org/officeDocument/2006/relationships/notesSlide" Target="/ppt/notesSlides/notesSlide9.xml" Id="R5027975648fa46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4236CCE6-161A-4CE8-AFED-6EEF4D5A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672"/>
                </a:solidFill>
                <a:latin typeface="Arial"/>
                <a:ea typeface="Arial"/>
                <a:cs typeface="Arial"/>
              </a:rPr>
              <a:t>SHOPVN · SESSION 11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5D06AC0-FA98-41CF-9360-50F91C4D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9810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Trusted daily analytics</a:t>
            </a:r>
          </a:p>
          <a:p xmlns:a="http://schemas.openxmlformats.org/drawingml/2006/main">
            <a:pPr>
              <a:defRPr sz="4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across three source systems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D28DB31-16F3-4DE1-AADC-2E47CE16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819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F6672"/>
                </a:solidFill>
                <a:latin typeface="Arial"/>
                <a:ea typeface="Arial"/>
                <a:cs typeface="Arial"/>
              </a:rPr>
              <a:t>Lakehouse design · correctness controls · validation path</a:t>
            </a:r>
          </a:p>
        </p:txBody>
      </p:sp>
    </p:spTree>
    <p:extLst>
      <p:ext uri="{BB962C8B-B14F-4D97-AF65-F5344CB8AC3E}">
        <p14:creationId xmlns:p14="http://schemas.microsoft.com/office/powerpoint/2010/main" val="18805074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2">
            <a:extLst xmlns:a="http://schemas.openxmlformats.org/drawingml/2006/main">
              <a:ext uri="{FF2B5EF4-FFF2-40B4-BE49-F238E27FC236}">
                <a16:creationId xmlns:a16="http://schemas.microsoft.com/office/drawing/2014/main" id="{C99E52BD-D3D8-47D9-BCE5-6883938D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672"/>
                </a:solidFill>
                <a:latin typeface="Arial"/>
                <a:ea typeface="Arial"/>
                <a:cs typeface="Arial"/>
              </a:rPr>
              <a:t>SHOPVN · FINAL PROJECT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F2323077-3F8C-4F5E-B809-D33F898D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23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sources. One trusted daily view.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2802C1C4-446D-4F8F-8122-A3FEED27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source-heading-0">
            <a:extLst xmlns:a="http://schemas.openxmlformats.org/drawingml/2006/main">
              <a:ext uri="{FF2B5EF4-FFF2-40B4-BE49-F238E27FC236}">
                <a16:creationId xmlns:a16="http://schemas.microsoft.com/office/drawing/2014/main" id="{8AF5FB0B-632E-4D11-BF9E-9BD6016B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5" name="source-body-0">
            <a:extLst xmlns:a="http://schemas.openxmlformats.org/drawingml/2006/main">
              <a:ext uri="{FF2B5EF4-FFF2-40B4-BE49-F238E27FC236}">
                <a16:creationId xmlns:a16="http://schemas.microsoft.com/office/drawing/2014/main" id="{D8C3C4C3-AE6F-4577-9751-9237E5C6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95625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F6672"/>
                </a:solidFill>
                <a:latin typeface="Arial"/>
                <a:ea typeface="Arial"/>
                <a:cs typeface="Arial"/>
              </a:rPr>
              <a:t>9 operational tables</a:t>
            </a:r>
          </a:p>
          <a:p xmlns:a="http://schemas.openxmlformats.org/drawingml/2006/main">
            <a:pPr>
              <a:defRPr sz="1575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F6672"/>
                </a:solidFill>
                <a:latin typeface="Arial"/>
                <a:ea typeface="Arial"/>
                <a:cs typeface="Arial"/>
              </a:rPr>
              <a:t>Current-state customer and inventory</a:t>
            </a:r>
          </a:p>
          <a:p xmlns:a="http://schemas.openxmlformats.org/drawingml/2006/main">
            <a:pPr>
              <a:defRPr sz="1575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F6672"/>
                </a:solidFill>
                <a:latin typeface="Arial"/>
                <a:ea typeface="Arial"/>
                <a:cs typeface="Arial"/>
              </a:rPr>
              <a:t>Direct orders, refunds, vouchers</a:t>
            </a:r>
          </a:p>
        </p:txBody>
      </p:sp>
      <p:sp>
        <p:nvSpPr>
          <p:cNvPr id="6" name="source-heading-1">
            <a:extLst xmlns:a="http://schemas.openxmlformats.org/drawingml/2006/main">
              <a:ext uri="{FF2B5EF4-FFF2-40B4-BE49-F238E27FC236}">
                <a16:creationId xmlns:a16="http://schemas.microsoft.com/office/drawing/2014/main" id="{E32E6D77-85F0-4328-AF7A-1A94BEE5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28875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Logistics API</a:t>
            </a:r>
          </a:p>
        </p:txBody>
      </p:sp>
      <p:sp>
        <p:nvSpPr>
          <p:cNvPr id="7" name="source-body-1">
            <a:extLst xmlns:a="http://schemas.openxmlformats.org/drawingml/2006/main">
              <a:ext uri="{FF2B5EF4-FFF2-40B4-BE49-F238E27FC236}">
                <a16:creationId xmlns:a16="http://schemas.microsoft.com/office/drawing/2014/main" id="{ED5EDB6E-1AD0-4E38-B4D3-9D76C8C1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95625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F6672"/>
                </a:solidFill>
                <a:latin typeface="Arial"/>
                <a:ea typeface="Arial"/>
                <a:cs typeface="Arial"/>
              </a:rPr>
              <a:t>Carrier-only delivery facts</a:t>
            </a:r>
          </a:p>
          <a:p xmlns:a="http://schemas.openxmlformats.org/drawingml/2006/main">
            <a:pPr>
              <a:defRPr sz="1575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F6672"/>
                </a:solidFill>
                <a:latin typeface="Arial"/>
                <a:ea typeface="Arial"/>
                <a:cs typeface="Arial"/>
              </a:rPr>
              <a:t>Rate limits and injected failures</a:t>
            </a:r>
          </a:p>
          <a:p xmlns:a="http://schemas.openxmlformats.org/drawingml/2006/main">
            <a:pPr>
              <a:defRPr sz="1575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F6672"/>
                </a:solidFill>
                <a:latin typeface="Arial"/>
                <a:ea typeface="Arial"/>
                <a:cs typeface="Arial"/>
              </a:rPr>
              <a:t>~8% legitimate missing shipments</a:t>
            </a:r>
          </a:p>
        </p:txBody>
      </p:sp>
      <p:sp>
        <p:nvSpPr>
          <p:cNvPr id="8" name="source-heading-2">
            <a:extLst xmlns:a="http://schemas.openxmlformats.org/drawingml/2006/main">
              <a:ext uri="{FF2B5EF4-FFF2-40B4-BE49-F238E27FC236}">
                <a16:creationId xmlns:a16="http://schemas.microsoft.com/office/drawing/2014/main" id="{6941B4D9-6093-4723-B139-0B057088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28875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Marketplace SFTP</a:t>
            </a:r>
          </a:p>
        </p:txBody>
      </p:sp>
      <p:sp>
        <p:nvSpPr>
          <p:cNvPr id="9" name="source-body-2">
            <a:extLst xmlns:a="http://schemas.openxmlformats.org/drawingml/2006/main">
              <a:ext uri="{FF2B5EF4-FFF2-40B4-BE49-F238E27FC236}">
                <a16:creationId xmlns:a16="http://schemas.microsoft.com/office/drawing/2014/main" id="{4EAC009F-7DF5-46DA-9EF9-5B8DBA42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5625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F6672"/>
                </a:solidFill>
                <a:latin typeface="Arial"/>
                <a:ea typeface="Arial"/>
                <a:cs typeface="Arial"/>
              </a:rPr>
              <a:t>Three partner settlement feeds</a:t>
            </a:r>
          </a:p>
          <a:p xmlns:a="http://schemas.openxmlformats.org/drawingml/2006/main">
            <a:pPr>
              <a:defRPr sz="1575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F6672"/>
                </a:solidFill>
                <a:latin typeface="Arial"/>
                <a:ea typeface="Arial"/>
                <a:cs typeface="Arial"/>
              </a:rPr>
              <a:t>Mandatory MD5 before processing</a:t>
            </a:r>
          </a:p>
          <a:p xmlns:a="http://schemas.openxmlformats.org/drawingml/2006/main">
            <a:pPr>
              <a:defRPr sz="1575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F6672"/>
                </a:solidFill>
                <a:latin typeface="Arial"/>
                <a:ea typeface="Arial"/>
                <a:cs typeface="Arial"/>
              </a:rPr>
              <a:t>Missing, corrupt, and late files</a:t>
            </a:r>
          </a:p>
        </p:txBody>
      </p:sp>
      <p:sp>
        <p:nvSpPr>
          <p:cNvPr id="10" name="source-conclusion">
            <a:extLst xmlns:a="http://schemas.openxmlformats.org/drawingml/2006/main">
              <a:ext uri="{FF2B5EF4-FFF2-40B4-BE49-F238E27FC236}">
                <a16:creationId xmlns:a16="http://schemas.microsoft.com/office/drawing/2014/main" id="{2EC754BD-C9AA-4601-92B2-A9B881DF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Four teams need one governed definition by 08:00 ICT—without hiding partial or bad data.</a:t>
            </a:r>
          </a:p>
        </p:txBody>
      </p:sp>
    </p:spTree>
    <p:extLst>
      <p:ext uri="{BB962C8B-B14F-4D97-AF65-F5344CB8AC3E}">
        <p14:creationId xmlns:p14="http://schemas.microsoft.com/office/powerpoint/2010/main" val="5140266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-3">
            <a:extLst xmlns:a="http://schemas.openxmlformats.org/drawingml/2006/main">
              <a:ext uri="{FF2B5EF4-FFF2-40B4-BE49-F238E27FC236}">
                <a16:creationId xmlns:a16="http://schemas.microsoft.com/office/drawing/2014/main" id="{02D392DA-4D41-44A1-953E-613C87CE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672"/>
                </a:solidFill>
                <a:latin typeface="Arial"/>
                <a:ea typeface="Arial"/>
                <a:cs typeface="Arial"/>
              </a:rPr>
              <a:t>SHOPVN · FINAL PROJECT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555D4670-0332-46A0-BCC4-4612136C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23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daily DAG turns source uncertainty into</a:t>
            </a:r>
          </a:p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independently trusted domains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F169B6EA-8729-4A87-B299-5792548B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a-pg-airflow">
            <a:extLst xmlns:a="http://schemas.openxmlformats.org/drawingml/2006/main">
              <a:ext uri="{FF2B5EF4-FFF2-40B4-BE49-F238E27FC236}">
                <a16:creationId xmlns:a16="http://schemas.microsoft.com/office/drawing/2014/main" id="{C5573610-3AF4-4C75-94C0-D89DD8F4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95500"/>
            <a:ext cx="495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a-api-airflow">
            <a:extLst xmlns:a="http://schemas.openxmlformats.org/drawingml/2006/main">
              <a:ext uri="{FF2B5EF4-FFF2-40B4-BE49-F238E27FC236}">
                <a16:creationId xmlns:a16="http://schemas.microsoft.com/office/drawing/2014/main" id="{C60DCB39-682A-442F-901D-B9536D07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048000"/>
            <a:ext cx="495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a-sftp-airflow">
            <a:extLst xmlns:a="http://schemas.openxmlformats.org/drawingml/2006/main">
              <a:ext uri="{FF2B5EF4-FFF2-40B4-BE49-F238E27FC236}">
                <a16:creationId xmlns:a16="http://schemas.microsoft.com/office/drawing/2014/main" id="{2458B3C1-BA20-4D18-936C-65D18355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00500"/>
            <a:ext cx="495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pipe-0">
            <a:extLst xmlns:a="http://schemas.openxmlformats.org/drawingml/2006/main">
              <a:ext uri="{FF2B5EF4-FFF2-40B4-BE49-F238E27FC236}">
                <a16:creationId xmlns:a16="http://schemas.microsoft.com/office/drawing/2014/main" id="{9317AC88-97B1-40A9-88C5-35CC794B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28950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pipe-1">
            <a:extLst xmlns:a="http://schemas.openxmlformats.org/drawingml/2006/main">
              <a:ext uri="{FF2B5EF4-FFF2-40B4-BE49-F238E27FC236}">
                <a16:creationId xmlns:a16="http://schemas.microsoft.com/office/drawing/2014/main" id="{625C59C8-7813-4644-A6E4-3C3C7386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28950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pipe-2">
            <a:extLst xmlns:a="http://schemas.openxmlformats.org/drawingml/2006/main">
              <a:ext uri="{FF2B5EF4-FFF2-40B4-BE49-F238E27FC236}">
                <a16:creationId xmlns:a16="http://schemas.microsoft.com/office/drawing/2014/main" id="{6A06272B-3974-40A0-85C6-1A00BA5F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pipe-3">
            <a:extLst xmlns:a="http://schemas.openxmlformats.org/drawingml/2006/main">
              <a:ext uri="{FF2B5EF4-FFF2-40B4-BE49-F238E27FC236}">
                <a16:creationId xmlns:a16="http://schemas.microsoft.com/office/drawing/2014/main" id="{8BC3FFBB-4577-4CCF-AF56-629B459D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pipe-4">
            <a:extLst xmlns:a="http://schemas.openxmlformats.org/drawingml/2006/main">
              <a:ext uri="{FF2B5EF4-FFF2-40B4-BE49-F238E27FC236}">
                <a16:creationId xmlns:a16="http://schemas.microsoft.com/office/drawing/2014/main" id="{CA1B8389-65A3-4EC7-9AE3-513F6E85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28950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src-pg">
            <a:extLst xmlns:a="http://schemas.openxmlformats.org/drawingml/2006/main">
              <a:ext uri="{FF2B5EF4-FFF2-40B4-BE49-F238E27FC236}">
                <a16:creationId xmlns:a16="http://schemas.microsoft.com/office/drawing/2014/main" id="{6EA268B9-AF3B-4305-A1E1-450EBDBA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3" name="src-api">
            <a:extLst xmlns:a="http://schemas.openxmlformats.org/drawingml/2006/main">
              <a:ext uri="{FF2B5EF4-FFF2-40B4-BE49-F238E27FC236}">
                <a16:creationId xmlns:a16="http://schemas.microsoft.com/office/drawing/2014/main" id="{6C9B8B84-FB0F-4A67-BA03-AB6B1A43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Logistics API</a:t>
            </a:r>
          </a:p>
        </p:txBody>
      </p:sp>
      <p:sp>
        <p:nvSpPr>
          <p:cNvPr id="14" name="src-sftp">
            <a:extLst xmlns:a="http://schemas.openxmlformats.org/drawingml/2006/main">
              <a:ext uri="{FF2B5EF4-FFF2-40B4-BE49-F238E27FC236}">
                <a16:creationId xmlns:a16="http://schemas.microsoft.com/office/drawing/2014/main" id="{AD44DBD7-250C-409B-AD2F-0A4E3C3E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SFTP + MD5</a:t>
            </a:r>
          </a:p>
        </p:txBody>
      </p:sp>
      <p:sp>
        <p:nvSpPr>
          <p:cNvPr id="15" name="stage-0">
            <a:extLst xmlns:a="http://schemas.openxmlformats.org/drawingml/2006/main">
              <a:ext uri="{FF2B5EF4-FFF2-40B4-BE49-F238E27FC236}">
                <a16:creationId xmlns:a16="http://schemas.microsoft.com/office/drawing/2014/main" id="{FAB75D58-D6D5-4612-94B4-D1DF4C7B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90800"/>
            <a:ext cx="12573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Airflow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02:00 ICT</a:t>
            </a:r>
          </a:p>
        </p:txBody>
      </p:sp>
      <p:sp>
        <p:nvSpPr>
          <p:cNvPr id="16" name="stage-1">
            <a:extLst xmlns:a="http://schemas.openxmlformats.org/drawingml/2006/main">
              <a:ext uri="{FF2B5EF4-FFF2-40B4-BE49-F238E27FC236}">
                <a16:creationId xmlns:a16="http://schemas.microsoft.com/office/drawing/2014/main" id="{58BE9C13-296C-4DC1-B5D1-407BF6B1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90800"/>
            <a:ext cx="12573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Bronze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raw + audit</a:t>
            </a:r>
          </a:p>
        </p:txBody>
      </p:sp>
      <p:sp>
        <p:nvSpPr>
          <p:cNvPr id="17" name="stage-2">
            <a:extLst xmlns:a="http://schemas.openxmlformats.org/drawingml/2006/main">
              <a:ext uri="{FF2B5EF4-FFF2-40B4-BE49-F238E27FC236}">
                <a16:creationId xmlns:a16="http://schemas.microsoft.com/office/drawing/2014/main" id="{E90DFB76-262F-4432-B929-CC887FCF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90800"/>
            <a:ext cx="12573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Silver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typed + PII</a:t>
            </a:r>
          </a:p>
        </p:txBody>
      </p:sp>
      <p:sp>
        <p:nvSpPr>
          <p:cNvPr id="18" name="stage-3">
            <a:extLst xmlns:a="http://schemas.openxmlformats.org/drawingml/2006/main">
              <a:ext uri="{FF2B5EF4-FFF2-40B4-BE49-F238E27FC236}">
                <a16:creationId xmlns:a16="http://schemas.microsoft.com/office/drawing/2014/main" id="{38A9A3EB-35EF-45E1-9B1F-112929D0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90800"/>
            <a:ext cx="12573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Candidate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run-scoped</a:t>
            </a:r>
          </a:p>
        </p:txBody>
      </p:sp>
      <p:sp>
        <p:nvSpPr>
          <p:cNvPr id="19" name="stage-4">
            <a:extLst xmlns:a="http://schemas.openxmlformats.org/drawingml/2006/main">
              <a:ext uri="{FF2B5EF4-FFF2-40B4-BE49-F238E27FC236}">
                <a16:creationId xmlns:a16="http://schemas.microsoft.com/office/drawing/2014/main" id="{5331C9FE-812E-41A0-AA0A-CCF04D72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90800"/>
            <a:ext cx="12573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DQ gate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blocking</a:t>
            </a:r>
          </a:p>
        </p:txBody>
      </p:sp>
      <p:sp>
        <p:nvSpPr>
          <p:cNvPr id="20" name="stage-5">
            <a:extLst xmlns:a="http://schemas.openxmlformats.org/drawingml/2006/main">
              <a:ext uri="{FF2B5EF4-FFF2-40B4-BE49-F238E27FC236}">
                <a16:creationId xmlns:a16="http://schemas.microsoft.com/office/drawing/2014/main" id="{57B6A4D1-9054-400D-A4D4-80CE4EE3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90800"/>
            <a:ext cx="12573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Gold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PASS only</a:t>
            </a:r>
          </a:p>
        </p:txBody>
      </p:sp>
      <p:sp>
        <p:nvSpPr>
          <p:cNvPr id="21" name="domain-list">
            <a:extLst xmlns:a="http://schemas.openxmlformats.org/drawingml/2006/main">
              <a:ext uri="{FF2B5EF4-FFF2-40B4-BE49-F238E27FC236}">
                <a16:creationId xmlns:a16="http://schemas.microsoft.com/office/drawing/2014/main" id="{0811160C-D3CE-49A4-B287-96C446FF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33875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Finance   ·   Operations   ·   Customer   ·   Product</a:t>
            </a:r>
          </a:p>
        </p:txBody>
      </p:sp>
      <p:sp>
        <p:nvSpPr>
          <p:cNvPr id="22" name="architecture-foot">
            <a:extLst xmlns:a="http://schemas.openxmlformats.org/drawingml/2006/main">
              <a:ext uri="{FF2B5EF4-FFF2-40B4-BE49-F238E27FC236}">
                <a16:creationId xmlns:a16="http://schemas.microsoft.com/office/drawing/2014/main" id="{B0996A3B-6B8E-407B-8659-03CED3CF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672"/>
                </a:solidFill>
                <a:latin typeface="Arial"/>
                <a:ea typeface="Arial"/>
                <a:cs typeface="Arial"/>
              </a:rPr>
              <a:t>Iceberg on MinIO · Polaris catalog · Trino serving views · Prometheus/Grafana + audit dashboard</a:t>
            </a:r>
          </a:p>
        </p:txBody>
      </p:sp>
    </p:spTree>
    <p:extLst>
      <p:ext uri="{BB962C8B-B14F-4D97-AF65-F5344CB8AC3E}">
        <p14:creationId xmlns:p14="http://schemas.microsoft.com/office/powerpoint/2010/main" val="2265279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4">
            <a:extLst xmlns:a="http://schemas.openxmlformats.org/drawingml/2006/main">
              <a:ext uri="{FF2B5EF4-FFF2-40B4-BE49-F238E27FC236}">
                <a16:creationId xmlns:a16="http://schemas.microsoft.com/office/drawing/2014/main" id="{804E47F7-A96E-44FB-B490-80F49B0A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Gold stays hidden until its domain proves itself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E18DAC50-3F76-4528-B8A7-E143A03E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publish-arrow-0">
            <a:extLst xmlns:a="http://schemas.openxmlformats.org/drawingml/2006/main">
              <a:ext uri="{FF2B5EF4-FFF2-40B4-BE49-F238E27FC236}">
                <a16:creationId xmlns:a16="http://schemas.microsoft.com/office/drawing/2014/main" id="{1EA95C71-515E-43AD-A53B-3977D990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52750"/>
            <a:ext cx="666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publish-arrow-1">
            <a:extLst xmlns:a="http://schemas.openxmlformats.org/drawingml/2006/main">
              <a:ext uri="{FF2B5EF4-FFF2-40B4-BE49-F238E27FC236}">
                <a16:creationId xmlns:a16="http://schemas.microsoft.com/office/drawing/2014/main" id="{8734298E-DF91-4BCE-9916-D4A0458A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52750"/>
            <a:ext cx="666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publish-arrow-2">
            <a:extLst xmlns:a="http://schemas.openxmlformats.org/drawingml/2006/main">
              <a:ext uri="{FF2B5EF4-FFF2-40B4-BE49-F238E27FC236}">
                <a16:creationId xmlns:a16="http://schemas.microsoft.com/office/drawing/2014/main" id="{BA073247-CDC9-4C39-A96A-CDF76546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52750"/>
            <a:ext cx="666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publish-arrow-3">
            <a:extLst xmlns:a="http://schemas.openxmlformats.org/drawingml/2006/main">
              <a:ext uri="{FF2B5EF4-FFF2-40B4-BE49-F238E27FC236}">
                <a16:creationId xmlns:a16="http://schemas.microsoft.com/office/drawing/2014/main" id="{2EA62D92-B035-4718-9C4B-54D8C505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666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publish-step-0">
            <a:extLst xmlns:a="http://schemas.openxmlformats.org/drawingml/2006/main">
              <a:ext uri="{FF2B5EF4-FFF2-40B4-BE49-F238E27FC236}">
                <a16:creationId xmlns:a16="http://schemas.microsoft.com/office/drawing/2014/main" id="{9A9F7AEB-93FD-4A8E-B01D-6A7E805C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publish-heading-0">
            <a:extLst xmlns:a="http://schemas.openxmlformats.org/drawingml/2006/main">
              <a:ext uri="{FF2B5EF4-FFF2-40B4-BE49-F238E27FC236}">
                <a16:creationId xmlns:a16="http://schemas.microsoft.com/office/drawing/2014/main" id="{1C3DC3A8-91B4-4DF9-A1DA-599EBF62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 candidate</a:t>
            </a:r>
          </a:p>
        </p:txBody>
      </p:sp>
      <p:sp>
        <p:nvSpPr>
          <p:cNvPr id="9" name="publish-body-0">
            <a:extLst xmlns:a="http://schemas.openxmlformats.org/drawingml/2006/main">
              <a:ext uri="{FF2B5EF4-FFF2-40B4-BE49-F238E27FC236}">
                <a16:creationId xmlns:a16="http://schemas.microsoft.com/office/drawing/2014/main" id="{740032FF-BB19-42F0-A74F-48B0A99F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866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F6672"/>
                </a:solidFill>
                <a:latin typeface="Arial"/>
                <a:ea typeface="Arial"/>
                <a:cs typeface="Arial"/>
              </a:rPr>
              <a:t>Every row carries run ID</a:t>
            </a:r>
          </a:p>
          <a:p xmlns:a="http://schemas.openxmlformats.org/drawingml/2006/main">
            <a:pPr>
              <a:defRPr sz="135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F6672"/>
                </a:solidFill>
                <a:latin typeface="Arial"/>
                <a:ea typeface="Arial"/>
                <a:cs typeface="Arial"/>
              </a:rPr>
              <a:t>and logical window</a:t>
            </a:r>
          </a:p>
        </p:txBody>
      </p:sp>
      <p:sp>
        <p:nvSpPr>
          <p:cNvPr id="10" name="publish-step-1">
            <a:extLst xmlns:a="http://schemas.openxmlformats.org/drawingml/2006/main">
              <a:ext uri="{FF2B5EF4-FFF2-40B4-BE49-F238E27FC236}">
                <a16:creationId xmlns:a16="http://schemas.microsoft.com/office/drawing/2014/main" id="{90FA71EE-C764-41F7-B1C1-8FD26673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479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publish-heading-1">
            <a:extLst xmlns:a="http://schemas.openxmlformats.org/drawingml/2006/main">
              <a:ext uri="{FF2B5EF4-FFF2-40B4-BE49-F238E27FC236}">
                <a16:creationId xmlns:a16="http://schemas.microsoft.com/office/drawing/2014/main" id="{240536EA-6568-41C0-96E5-A9C60DCE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766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Run blocking DQ</a:t>
            </a:r>
          </a:p>
        </p:txBody>
      </p:sp>
      <p:sp>
        <p:nvSpPr>
          <p:cNvPr id="12" name="publish-body-1">
            <a:extLst xmlns:a="http://schemas.openxmlformats.org/drawingml/2006/main">
              <a:ext uri="{FF2B5EF4-FFF2-40B4-BE49-F238E27FC236}">
                <a16:creationId xmlns:a16="http://schemas.microsoft.com/office/drawing/2014/main" id="{2F47028A-024F-4A2B-8FAF-DF70764A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95750"/>
            <a:ext cx="1866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F6672"/>
                </a:solidFill>
                <a:latin typeface="Arial"/>
                <a:ea typeface="Arial"/>
                <a:cs typeface="Arial"/>
              </a:rPr>
              <a:t>Keys, grain, counts,</a:t>
            </a:r>
          </a:p>
          <a:p xmlns:a="http://schemas.openxmlformats.org/drawingml/2006/main">
            <a:pPr>
              <a:defRPr sz="135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F6672"/>
                </a:solidFill>
                <a:latin typeface="Arial"/>
                <a:ea typeface="Arial"/>
                <a:cs typeface="Arial"/>
              </a:rPr>
              <a:t>amounts, completeness</a:t>
            </a:r>
          </a:p>
        </p:txBody>
      </p:sp>
      <p:sp>
        <p:nvSpPr>
          <p:cNvPr id="13" name="publish-step-2">
            <a:extLst xmlns:a="http://schemas.openxmlformats.org/drawingml/2006/main">
              <a:ext uri="{FF2B5EF4-FFF2-40B4-BE49-F238E27FC236}">
                <a16:creationId xmlns:a16="http://schemas.microsoft.com/office/drawing/2014/main" id="{673DD17F-FFAC-493E-8C3A-9C3E8AB5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publish-heading-2">
            <a:extLst xmlns:a="http://schemas.openxmlformats.org/drawingml/2006/main">
              <a:ext uri="{FF2B5EF4-FFF2-40B4-BE49-F238E27FC236}">
                <a16:creationId xmlns:a16="http://schemas.microsoft.com/office/drawing/2014/main" id="{70C9E02A-98F2-4DC7-A591-F92AE3C4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766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Write version</a:t>
            </a:r>
          </a:p>
        </p:txBody>
      </p:sp>
      <p:sp>
        <p:nvSpPr>
          <p:cNvPr id="15" name="publish-body-2">
            <a:extLst xmlns:a="http://schemas.openxmlformats.org/drawingml/2006/main">
              <a:ext uri="{FF2B5EF4-FFF2-40B4-BE49-F238E27FC236}">
                <a16:creationId xmlns:a16="http://schemas.microsoft.com/office/drawing/2014/main" id="{13EA7372-D20F-4679-BC9E-9DC62772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95750"/>
            <a:ext cx="1866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F6672"/>
                </a:solidFill>
                <a:latin typeface="Arial"/>
                <a:ea typeface="Arial"/>
                <a:cs typeface="Arial"/>
              </a:rPr>
              <a:t>MERGE by run +</a:t>
            </a:r>
          </a:p>
          <a:p xmlns:a="http://schemas.openxmlformats.org/drawingml/2006/main">
            <a:pPr>
              <a:defRPr sz="135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F6672"/>
                </a:solidFill>
                <a:latin typeface="Arial"/>
                <a:ea typeface="Arial"/>
                <a:cs typeface="Arial"/>
              </a:rPr>
              <a:t>business key</a:t>
            </a:r>
          </a:p>
        </p:txBody>
      </p:sp>
      <p:sp>
        <p:nvSpPr>
          <p:cNvPr id="16" name="publish-step-3">
            <a:extLst xmlns:a="http://schemas.openxmlformats.org/drawingml/2006/main">
              <a:ext uri="{FF2B5EF4-FFF2-40B4-BE49-F238E27FC236}">
                <a16:creationId xmlns:a16="http://schemas.microsoft.com/office/drawing/2014/main" id="{4A709C10-BB8D-4BE8-88C3-C7A89221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publish-heading-3">
            <a:extLst xmlns:a="http://schemas.openxmlformats.org/drawingml/2006/main">
              <a:ext uri="{FF2B5EF4-FFF2-40B4-BE49-F238E27FC236}">
                <a16:creationId xmlns:a16="http://schemas.microsoft.com/office/drawing/2014/main" id="{E84D9080-22F1-42E0-BD0D-ACC7ADFC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766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Set PASS marker</a:t>
            </a:r>
          </a:p>
        </p:txBody>
      </p:sp>
      <p:sp>
        <p:nvSpPr>
          <p:cNvPr id="18" name="publish-body-3">
            <a:extLst xmlns:a="http://schemas.openxmlformats.org/drawingml/2006/main">
              <a:ext uri="{FF2B5EF4-FFF2-40B4-BE49-F238E27FC236}">
                <a16:creationId xmlns:a16="http://schemas.microsoft.com/office/drawing/2014/main" id="{19655323-1FCD-4C23-A117-BFF5068F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95750"/>
            <a:ext cx="1866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F6672"/>
                </a:solidFill>
                <a:latin typeface="Arial"/>
                <a:ea typeface="Arial"/>
                <a:cs typeface="Arial"/>
              </a:rPr>
              <a:t>Only after every model</a:t>
            </a:r>
          </a:p>
          <a:p xmlns:a="http://schemas.openxmlformats.org/drawingml/2006/main">
            <a:pPr>
              <a:defRPr sz="135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F6672"/>
                </a:solidFill>
                <a:latin typeface="Arial"/>
                <a:ea typeface="Arial"/>
                <a:cs typeface="Arial"/>
              </a:rPr>
              <a:t>in the domain writes</a:t>
            </a:r>
          </a:p>
        </p:txBody>
      </p:sp>
      <p:sp>
        <p:nvSpPr>
          <p:cNvPr id="19" name="publish-step-4">
            <a:extLst xmlns:a="http://schemas.openxmlformats.org/drawingml/2006/main">
              <a:ext uri="{FF2B5EF4-FFF2-40B4-BE49-F238E27FC236}">
                <a16:creationId xmlns:a16="http://schemas.microsoft.com/office/drawing/2014/main" id="{CAFF59BD-31C0-4299-A5A5-C42D85C1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479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publish-heading-4">
            <a:extLst xmlns:a="http://schemas.openxmlformats.org/drawingml/2006/main">
              <a:ext uri="{FF2B5EF4-FFF2-40B4-BE49-F238E27FC236}">
                <a16:creationId xmlns:a16="http://schemas.microsoft.com/office/drawing/2014/main" id="{16E8763F-F866-4B2D-AEFF-E6926F0A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766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Serve latest PASS</a:t>
            </a:r>
          </a:p>
        </p:txBody>
      </p:sp>
      <p:sp>
        <p:nvSpPr>
          <p:cNvPr id="21" name="publish-body-4">
            <a:extLst xmlns:a="http://schemas.openxmlformats.org/drawingml/2006/main">
              <a:ext uri="{FF2B5EF4-FFF2-40B4-BE49-F238E27FC236}">
                <a16:creationId xmlns:a16="http://schemas.microsoft.com/office/drawing/2014/main" id="{F05FBBD0-141D-417A-A384-64A846C5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95750"/>
            <a:ext cx="1866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F6672"/>
                </a:solidFill>
                <a:latin typeface="Arial"/>
                <a:ea typeface="Arial"/>
                <a:cs typeface="Arial"/>
              </a:rPr>
              <a:t>Views ignore PENDING</a:t>
            </a:r>
          </a:p>
          <a:p xmlns:a="http://schemas.openxmlformats.org/drawingml/2006/main">
            <a:pPr>
              <a:defRPr sz="135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F6672"/>
                </a:solidFill>
                <a:latin typeface="Arial"/>
                <a:ea typeface="Arial"/>
                <a:cs typeface="Arial"/>
              </a:rPr>
              <a:t>and FAIL versions</a:t>
            </a:r>
          </a:p>
        </p:txBody>
      </p:sp>
      <p:sp>
        <p:nvSpPr>
          <p:cNvPr id="22" name="publication-claim">
            <a:extLst xmlns:a="http://schemas.openxmlformats.org/drawingml/2006/main">
              <a:ext uri="{FF2B5EF4-FFF2-40B4-BE49-F238E27FC236}">
                <a16:creationId xmlns:a16="http://schemas.microsoft.com/office/drawing/2014/main" id="{51842498-21CC-43AE-BFB9-0A8A341E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 process crash can leave version rows behind—but never expose them to consumers without PASS.</a:t>
            </a:r>
          </a:p>
        </p:txBody>
      </p:sp>
    </p:spTree>
    <p:extLst>
      <p:ext uri="{BB962C8B-B14F-4D97-AF65-F5344CB8AC3E}">
        <p14:creationId xmlns:p14="http://schemas.microsoft.com/office/powerpoint/2010/main" val="3556787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kicker-5">
            <a:extLst xmlns:a="http://schemas.openxmlformats.org/drawingml/2006/main">
              <a:ext uri="{FF2B5EF4-FFF2-40B4-BE49-F238E27FC236}">
                <a16:creationId xmlns:a16="http://schemas.microsoft.com/office/drawing/2014/main" id="{AB6F8220-3B40-4B55-8D43-7A88BF5E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672"/>
                </a:solidFill>
                <a:latin typeface="Arial"/>
                <a:ea typeface="Arial"/>
                <a:cs typeface="Arial"/>
              </a:rPr>
              <a:t>SHOPVN · FINAL PROJECT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0D780300-C342-4037-A598-5E73CAF2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23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Nine governed models cover the four business decisions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1E56C303-3187-4109-BD6E-65210622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model-intro">
            <a:extLst xmlns:a="http://schemas.openxmlformats.org/drawingml/2006/main">
              <a:ext uri="{FF2B5EF4-FFF2-40B4-BE49-F238E27FC236}">
                <a16:creationId xmlns:a16="http://schemas.microsoft.com/office/drawing/2014/main" id="{7C6A15A5-263C-4D35-98D6-EC504672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F6672"/>
                </a:solidFill>
                <a:latin typeface="Arial"/>
                <a:ea typeface="Arial"/>
                <a:cs typeface="Arial"/>
              </a:rPr>
              <a:t>Eight facts plus one forward-only SCD2 dimension keep each output at a declared grain.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3905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524000"/>
                <a:gridCol w="2952750"/>
                <a:gridCol w="3333750"/>
                <a:gridCol w="3581400"/>
              </a:tblGrid>
              <a:tr h="7810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Domain</a:t>
                      </a:r>
                    </a:p>
                  </a:txBody>
                  <a:tcPr marL="95250" marR="95250" marT="76200" marB="762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Gold outputs</a:t>
                      </a:r>
                    </a:p>
                  </a:txBody>
                  <a:tcPr marL="95250" marR="95250" marT="76200" marB="762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Declared grain</a:t>
                      </a:r>
                    </a:p>
                  </a:txBody>
                  <a:tcPr marL="95250" marR="95250" marT="76200" marB="762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enabled</a:t>
                      </a:r>
                    </a:p>
                  </a:txBody>
                  <a:tcPr marL="95250" marR="95250" marT="76200" marB="76200">
                    <a:solidFill>
                      <a:srgbClr val="000000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Finance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daily_revenue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date × source × channel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Net revenue, commissions, refunds</a:t>
                      </a:r>
                    </a:p>
                  </a:txBody>
                  <a:tcPr marL="95250" marR="95250" marT="66675" marB="66675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Operations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delivery_daily</a:t>
                      </a:r>
                    </a:p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return_daily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date × carrier/location</a:t>
                      </a:r>
                    </a:p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date × category/channel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Carrier quality and return rate</a:t>
                      </a:r>
                    </a:p>
                  </a:txBody>
                  <a:tcPr marL="95250" marR="95250" marT="66675" marB="66675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Customer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customer_daily · voucher_daily</a:t>
                      </a:r>
                    </a:p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rating_daily · customer_scd2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daily customer / voucher / rating</a:t>
                      </a:r>
                    </a:p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customer effective version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Spend, lifecycle, campaign, loyalty</a:t>
                      </a:r>
                    </a:p>
                  </a:txBody>
                  <a:tcPr marL="95250" marR="95250" marT="66675" marB="66675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Product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inventory_eod</a:t>
                      </a:r>
                    </a:p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product_channel_daily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date × product × warehouse</a:t>
                      </a:r>
                    </a:p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date × product × channel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Stock, loss, velocity, stockout</a:t>
                      </a:r>
                    </a:p>
                  </a:txBody>
                  <a:tcPr marL="95250" marR="95250" marT="66675" marB="66675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0714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kicker-6">
            <a:extLst xmlns:a="http://schemas.openxmlformats.org/drawingml/2006/main">
              <a:ext uri="{FF2B5EF4-FFF2-40B4-BE49-F238E27FC236}">
                <a16:creationId xmlns:a16="http://schemas.microsoft.com/office/drawing/2014/main" id="{B0828070-2B22-43F8-9577-EFE6256D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672"/>
                </a:solidFill>
                <a:latin typeface="Arial"/>
                <a:ea typeface="Arial"/>
                <a:cs typeface="Arial"/>
              </a:rPr>
              <a:t>SHOPVN · FINAL PROJECT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ECC089AA-808B-4EC0-B884-0C9EA30A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23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Predictable failure. Safe recovery.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20C2CA04-8EB8-4FD0-8F54-962BDBB2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2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00050" y="1619250"/>
          <a:ext xmlns:a="http://schemas.openxmlformats.org/drawingml/2006/main" cx="11391900" cy="43338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00250"/>
                <a:gridCol w="3238500"/>
                <a:gridCol w="2667000"/>
                <a:gridCol w="3486150"/>
              </a:tblGrid>
              <a:tr h="72231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Failure</a:t>
                      </a:r>
                    </a:p>
                  </a:txBody>
                  <a:tcPr marL="95250" marR="95250" marT="76200" marB="762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Pipeline behavior</a:t>
                      </a:r>
                    </a:p>
                  </a:txBody>
                  <a:tcPr marL="95250" marR="95250" marT="76200" marB="762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Publication impact</a:t>
                      </a:r>
                    </a:p>
                  </a:txBody>
                  <a:tcPr marL="95250" marR="95250" marT="76200" marB="762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Safe recovery</a:t>
                      </a:r>
                    </a:p>
                  </a:txBody>
                  <a:tcPr marL="95250" marR="95250" marT="76200" marB="76200">
                    <a:solidFill>
                      <a:srgbClr val="000000"/>
                    </a:solidFill>
                  </a:tcPr>
                </a:tc>
              </a:tr>
              <a:tr h="7223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API 429 / timeout / 500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Bounded policy; 404 is logged, not retried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Operations blocks on terminal API errors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Rerun affected window</a:t>
                      </a:r>
                    </a:p>
                  </a:txBody>
                  <a:tcPr marL="95250" marR="95250" marT="66675" marB="66675"/>
                </a:tc>
              </a:tr>
              <a:tr h="7223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Missing SFTP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Audit warning; other sources continue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Dependent domains block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Rerun when CSV + MD5 arrive</a:t>
                      </a:r>
                    </a:p>
                  </a:txBody>
                  <a:tcPr marL="95250" marR="95250" marT="66675" marB="66675"/>
                </a:tc>
              </a:tr>
              <a:tr h="7223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Corrupt SFTP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Quarantine and fail branch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 dependent Gold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Replace source file; preserve evidence</a:t>
                      </a:r>
                    </a:p>
                  </a:txBody>
                  <a:tcPr marL="95250" marR="95250" marT="66675" marB="66675"/>
                </a:tc>
              </a:tr>
              <a:tr h="7223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Breaking schema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Reject removal/type change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 candidate publish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Version contract + migrate</a:t>
                      </a:r>
                    </a:p>
                  </a:txBody>
                  <a:tcPr marL="95250" marR="95250" marT="66675" marB="66675"/>
                </a:tc>
              </a:tr>
              <a:tr h="7223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Blocking DQ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Retain candidate and diagnostics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 PASS marker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Fix cause; rerun; reconcile</a:t>
                      </a:r>
                    </a:p>
                  </a:txBody>
                  <a:tcPr marL="95250" marR="95250" marT="66675" marB="66675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80320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7">
            <a:extLst xmlns:a="http://schemas.openxmlformats.org/drawingml/2006/main">
              <a:ext uri="{FF2B5EF4-FFF2-40B4-BE49-F238E27FC236}">
                <a16:creationId xmlns:a16="http://schemas.microsoft.com/office/drawing/2014/main" id="{36AF7EDE-6502-40AE-B0DE-E6D89925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672"/>
                </a:solidFill>
                <a:latin typeface="Arial"/>
                <a:ea typeface="Arial"/>
                <a:cs typeface="Arial"/>
              </a:rPr>
              <a:t>SHOPVN · FINAL PROJECT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184A7E34-1324-4181-9FC8-39E2B22A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23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Correctness is designed as evidence, not a promise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7FFAAC27-88FB-4951-BD9E-6A7795F5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2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proof-band-0">
            <a:extLst xmlns:a="http://schemas.openxmlformats.org/drawingml/2006/main">
              <a:ext uri="{FF2B5EF4-FFF2-40B4-BE49-F238E27FC236}">
                <a16:creationId xmlns:a16="http://schemas.microsoft.com/office/drawing/2014/main" id="{04563C60-FD4C-43EB-AC89-FDA502A6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34766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proof-heading-0">
            <a:extLst xmlns:a="http://schemas.openxmlformats.org/drawingml/2006/main">
              <a:ext uri="{FF2B5EF4-FFF2-40B4-BE49-F238E27FC236}">
                <a16:creationId xmlns:a16="http://schemas.microsoft.com/office/drawing/2014/main" id="{CEAC66A7-5373-41C2-8EBF-525787D2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9875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Idempotency</a:t>
            </a:r>
          </a:p>
        </p:txBody>
      </p:sp>
      <p:sp>
        <p:nvSpPr>
          <p:cNvPr id="6" name="proof-body-0">
            <a:extLst xmlns:a="http://schemas.openxmlformats.org/drawingml/2006/main">
              <a:ext uri="{FF2B5EF4-FFF2-40B4-BE49-F238E27FC236}">
                <a16:creationId xmlns:a16="http://schemas.microsoft.com/office/drawing/2014/main" id="{334693B7-8BAB-4444-92B7-7D668096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3381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672"/>
                </a:solidFill>
                <a:latin typeface="Arial"/>
                <a:ea typeface="Arial"/>
                <a:cs typeface="Arial"/>
              </a:rPr>
              <a:t>Iceberg MERGE keys at every layer</a:t>
            </a:r>
          </a:p>
          <a:p xmlns:a="http://schemas.openxmlformats.org/drawingml/2006/main">
            <a:pPr>
              <a:defRPr sz="150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672"/>
                </a:solidFill>
                <a:latin typeface="Arial"/>
                <a:ea typeface="Arial"/>
                <a:cs typeface="Arial"/>
              </a:rPr>
              <a:t>Run-scoped candidate and version rows</a:t>
            </a:r>
          </a:p>
          <a:p xmlns:a="http://schemas.openxmlformats.org/drawingml/2006/main">
            <a:pPr>
              <a:defRPr sz="150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672"/>
                </a:solidFill>
                <a:latin typeface="Arial"/>
                <a:ea typeface="Arial"/>
                <a:cs typeface="Arial"/>
              </a:rPr>
              <a:t>Three-rerun count + sum proof required</a:t>
            </a:r>
          </a:p>
        </p:txBody>
      </p:sp>
      <p:sp>
        <p:nvSpPr>
          <p:cNvPr id="7" name="proof-band-1">
            <a:extLst xmlns:a="http://schemas.openxmlformats.org/drawingml/2006/main">
              <a:ext uri="{FF2B5EF4-FFF2-40B4-BE49-F238E27FC236}">
                <a16:creationId xmlns:a16="http://schemas.microsoft.com/office/drawing/2014/main" id="{AE2CF698-3A36-47D1-B3DF-1C97E2D4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81250"/>
            <a:ext cx="34766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proof-heading-1">
            <a:extLst xmlns:a="http://schemas.openxmlformats.org/drawingml/2006/main">
              <a:ext uri="{FF2B5EF4-FFF2-40B4-BE49-F238E27FC236}">
                <a16:creationId xmlns:a16="http://schemas.microsoft.com/office/drawing/2014/main" id="{914C000B-ED15-4ED8-9686-A51FFC2E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09875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Security</a:t>
            </a:r>
          </a:p>
        </p:txBody>
      </p:sp>
      <p:sp>
        <p:nvSpPr>
          <p:cNvPr id="9" name="proof-body-1">
            <a:extLst xmlns:a="http://schemas.openxmlformats.org/drawingml/2006/main">
              <a:ext uri="{FF2B5EF4-FFF2-40B4-BE49-F238E27FC236}">
                <a16:creationId xmlns:a16="http://schemas.microsoft.com/office/drawing/2014/main" id="{C10980EC-91BF-403A-9247-BCE76771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76625"/>
            <a:ext cx="3381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672"/>
                </a:solidFill>
                <a:latin typeface="Arial"/>
                <a:ea typeface="Arial"/>
                <a:cs typeface="Arial"/>
              </a:rPr>
              <a:t>Read-only source access</a:t>
            </a:r>
          </a:p>
          <a:p xmlns:a="http://schemas.openxmlformats.org/drawingml/2006/main">
            <a:pPr>
              <a:defRPr sz="150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672"/>
                </a:solidFill>
                <a:latin typeface="Arial"/>
                <a:ea typeface="Arial"/>
                <a:cs typeface="Arial"/>
              </a:rPr>
              <a:t>Stable salted hashes before Silver</a:t>
            </a:r>
          </a:p>
          <a:p xmlns:a="http://schemas.openxmlformats.org/drawingml/2006/main">
            <a:pPr>
              <a:defRPr sz="150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672"/>
                </a:solidFill>
                <a:latin typeface="Arial"/>
                <a:ea typeface="Arial"/>
                <a:cs typeface="Arial"/>
              </a:rPr>
              <a:t>No plaintext name, phone, email, ward, comments</a:t>
            </a:r>
          </a:p>
        </p:txBody>
      </p:sp>
      <p:sp>
        <p:nvSpPr>
          <p:cNvPr id="10" name="proof-band-2">
            <a:extLst xmlns:a="http://schemas.openxmlformats.org/drawingml/2006/main">
              <a:ext uri="{FF2B5EF4-FFF2-40B4-BE49-F238E27FC236}">
                <a16:creationId xmlns:a16="http://schemas.microsoft.com/office/drawing/2014/main" id="{968D43A7-BFC7-4A68-857E-0132AE5B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34766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proof-heading-2">
            <a:extLst xmlns:a="http://schemas.openxmlformats.org/drawingml/2006/main">
              <a:ext uri="{FF2B5EF4-FFF2-40B4-BE49-F238E27FC236}">
                <a16:creationId xmlns:a16="http://schemas.microsoft.com/office/drawing/2014/main" id="{92A8F217-12FA-4C57-AE89-B3984207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09875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Observability</a:t>
            </a:r>
          </a:p>
        </p:txBody>
      </p:sp>
      <p:sp>
        <p:nvSpPr>
          <p:cNvPr id="12" name="proof-body-2">
            <a:extLst xmlns:a="http://schemas.openxmlformats.org/drawingml/2006/main">
              <a:ext uri="{FF2B5EF4-FFF2-40B4-BE49-F238E27FC236}">
                <a16:creationId xmlns:a16="http://schemas.microsoft.com/office/drawing/2014/main" id="{451775EC-2BBF-4870-9F0B-0456593E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76625"/>
            <a:ext cx="3381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672"/>
                </a:solidFill>
                <a:latin typeface="Arial"/>
                <a:ea typeface="Arial"/>
                <a:cs typeface="Arial"/>
              </a:rPr>
              <a:t>Run + stage + window audit metadata</a:t>
            </a:r>
          </a:p>
          <a:p xmlns:a="http://schemas.openxmlformats.org/drawingml/2006/main">
            <a:pPr>
              <a:defRPr sz="150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672"/>
                </a:solidFill>
                <a:latin typeface="Arial"/>
                <a:ea typeface="Arial"/>
                <a:cs typeface="Arial"/>
              </a:rPr>
              <a:t>Persisted DQ and reconciliation results</a:t>
            </a:r>
          </a:p>
          <a:p xmlns:a="http://schemas.openxmlformats.org/drawingml/2006/main">
            <a:pPr>
              <a:defRPr sz="150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672"/>
                </a:solidFill>
                <a:latin typeface="Arial"/>
                <a:ea typeface="Arial"/>
                <a:cs typeface="Arial"/>
              </a:rPr>
              <a:t>Airflow, Grafana, and operations dashboard</a:t>
            </a:r>
          </a:p>
        </p:txBody>
      </p:sp>
    </p:spTree>
    <p:extLst>
      <p:ext uri="{BB962C8B-B14F-4D97-AF65-F5344CB8AC3E}">
        <p14:creationId xmlns:p14="http://schemas.microsoft.com/office/powerpoint/2010/main" val="12173530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8">
            <a:extLst xmlns:a="http://schemas.openxmlformats.org/drawingml/2006/main">
              <a:ext uri="{FF2B5EF4-FFF2-40B4-BE49-F238E27FC236}">
                <a16:creationId xmlns:a16="http://schemas.microsoft.com/office/drawing/2014/main" id="{9E7569F0-178A-47EF-8055-D82DAB8C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1239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implementation is reviewable;</a:t>
            </a:r>
          </a:p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runtime acceptance is still pending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416A8B02-7362-46E9-A54B-DF355B7A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2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validation-intro">
            <a:extLst xmlns:a="http://schemas.openxmlformats.org/drawingml/2006/main">
              <a:ext uri="{FF2B5EF4-FFF2-40B4-BE49-F238E27FC236}">
                <a16:creationId xmlns:a16="http://schemas.microsoft.com/office/drawing/2014/main" id="{074A7C7D-3AD6-4201-94C2-3B1FCC92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672"/>
                </a:solidFill>
                <a:latin typeface="Arial"/>
                <a:ea typeface="Arial"/>
                <a:cs typeface="Arial"/>
              </a:rPr>
              <a:t>Status as of 2026-08-15 on this workstation. NOT RUN is intentional where the required runtime is unavailable.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00050" y="2619375"/>
          <a:ext xmlns:a="http://schemas.openxmlformats.org/drawingml/2006/main" cx="1139190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14625"/>
                <a:gridCol w="1619250"/>
                <a:gridCol w="7058025"/>
              </a:tblGrid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</a:p>
                  </a:txBody>
                  <a:tcPr marL="95250" marR="95250" marT="76200" marB="762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95250" marR="95250" marT="76200" marB="762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/ reason</a:t>
                      </a:r>
                    </a:p>
                  </a:txBody>
                  <a:tcPr marL="95250" marR="95250" marT="76200" marB="76200">
                    <a:solidFill>
                      <a:srgbClr val="000000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Python compile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47A4D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compileall completed with exit 0</a:t>
                      </a:r>
                    </a:p>
                  </a:txBody>
                  <a:tcPr marL="95250" marR="95250" marT="66675" marB="66675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JSON + secret scan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47A4D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All JSON parsed; scanner found no embedded fixture secret/endpoint</a:t>
                      </a:r>
                    </a:p>
                  </a:txBody>
                  <a:tcPr marL="95250" marR="95250" marT="66675" marB="66675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Diff whitespace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47A4D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git diff --check returned no errors</a:t>
                      </a:r>
                    </a:p>
                  </a:txBody>
                  <a:tcPr marL="95250" marR="95250" marT="66675" marB="66675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Ruff / pytest / Bandit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A05A00"/>
                          </a:solidFill>
                          <a:latin typeface="Arial"/>
                          <a:ea typeface="Arial"/>
                          <a:cs typeface="Arial"/>
                        </a:rPr>
                        <a:t>NOT RUN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Pinned tools are not installed in the bundled local Python</a:t>
                      </a:r>
                    </a:p>
                  </a:txBody>
                  <a:tcPr marL="95250" marR="95250" marT="66675" marB="66675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Compose + end-to-end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A05A00"/>
                          </a:solidFill>
                          <a:latin typeface="Arial"/>
                          <a:ea typeface="Arial"/>
                          <a:cs typeface="Arial"/>
                        </a:rPr>
                        <a:t>NOT RUN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Docker CLI/daemon is unavailable on this workstation</a:t>
                      </a:r>
                    </a:p>
                  </a:txBody>
                  <a:tcPr marL="95250" marR="95250" marT="66675" marB="66675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3× rerun / faults / SLA / drill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A05A00"/>
                          </a:solidFill>
                          <a:latin typeface="Arial"/>
                          <a:ea typeface="Arial"/>
                          <a:cs typeface="Arial"/>
                        </a:rPr>
                        <a:t>NOT RUN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Requires the live source and Lakehouse stacks</a:t>
                      </a:r>
                    </a:p>
                  </a:txBody>
                  <a:tcPr marL="95250" marR="95250" marT="66675" marB="66675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6935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9">
            <a:extLst xmlns:a="http://schemas.openxmlformats.org/drawingml/2006/main">
              <a:ext uri="{FF2B5EF4-FFF2-40B4-BE49-F238E27FC236}">
                <a16:creationId xmlns:a16="http://schemas.microsoft.com/office/drawing/2014/main" id="{909AFFF6-4DAD-4492-A679-367AFE8D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672"/>
                </a:solidFill>
                <a:latin typeface="Arial"/>
                <a:ea typeface="Arial"/>
                <a:cs typeface="Arial"/>
              </a:rPr>
              <a:t>SHOPVN · FINAL PROJECT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AB518F44-7C2D-4E34-A01A-384123FA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23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Completion now depends on captured runtime proof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2EFF2791-342B-4D84-BDFA-EBDF1C16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2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close-arrow-1">
            <a:extLst xmlns:a="http://schemas.openxmlformats.org/drawingml/2006/main">
              <a:ext uri="{FF2B5EF4-FFF2-40B4-BE49-F238E27FC236}">
                <a16:creationId xmlns:a16="http://schemas.microsoft.com/office/drawing/2014/main" id="{69250384-4AF1-46AF-B23D-E7118349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1000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close-arrow-2">
            <a:extLst xmlns:a="http://schemas.openxmlformats.org/drawingml/2006/main">
              <a:ext uri="{FF2B5EF4-FFF2-40B4-BE49-F238E27FC236}">
                <a16:creationId xmlns:a16="http://schemas.microsoft.com/office/drawing/2014/main" id="{7144711A-5F7F-474F-84B9-0D5D32CB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1000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close-num-0">
            <a:extLst xmlns:a="http://schemas.openxmlformats.org/drawingml/2006/main">
              <a:ext uri="{FF2B5EF4-FFF2-40B4-BE49-F238E27FC236}">
                <a16:creationId xmlns:a16="http://schemas.microsoft.com/office/drawing/2014/main" id="{E7439D2E-E9FF-46D3-B789-85ADC056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close-heading-0">
            <a:extLst xmlns:a="http://schemas.openxmlformats.org/drawingml/2006/main">
              <a:ext uri="{FF2B5EF4-FFF2-40B4-BE49-F238E27FC236}">
                <a16:creationId xmlns:a16="http://schemas.microsoft.com/office/drawing/2014/main" id="{9043BD91-ED99-4A90-9FB2-573E7708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Start both stacks</a:t>
            </a:r>
          </a:p>
        </p:txBody>
      </p:sp>
      <p:sp>
        <p:nvSpPr>
          <p:cNvPr id="8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8A500FB7-B1AF-4289-A735-8C2B5AB2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672"/>
                </a:solidFill>
                <a:latin typeface="Arial"/>
                <a:ea typeface="Arial"/>
                <a:cs typeface="Arial"/>
              </a:rPr>
              <a:t>Healthy sources, catalog, Spark/Trino compatibility</a:t>
            </a:r>
          </a:p>
        </p:txBody>
      </p:sp>
      <p:sp>
        <p:nvSpPr>
          <p:cNvPr id="9" name="close-num-1">
            <a:extLst xmlns:a="http://schemas.openxmlformats.org/drawingml/2006/main">
              <a:ext uri="{FF2B5EF4-FFF2-40B4-BE49-F238E27FC236}">
                <a16:creationId xmlns:a16="http://schemas.microsoft.com/office/drawing/2014/main" id="{DA7AC9BD-AF22-4402-8543-E6D2FEA6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close-heading-1">
            <a:extLst xmlns:a="http://schemas.openxmlformats.org/drawingml/2006/main">
              <a:ext uri="{FF2B5EF4-FFF2-40B4-BE49-F238E27FC236}">
                <a16:creationId xmlns:a16="http://schemas.microsoft.com/office/drawing/2014/main" id="{E013E697-B68C-43C3-B17E-D35881E4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48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Run the matrix</a:t>
            </a:r>
          </a:p>
        </p:txBody>
      </p:sp>
      <p:sp>
        <p:nvSpPr>
          <p:cNvPr id="11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ECAEEBC9-007C-4511-9698-1323768A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100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672"/>
                </a:solidFill>
                <a:latin typeface="Arial"/>
                <a:ea typeface="Arial"/>
                <a:cs typeface="Arial"/>
              </a:rPr>
              <a:t>June 1, flash sales, faults, schema changes, three reruns</a:t>
            </a:r>
          </a:p>
        </p:txBody>
      </p:sp>
      <p:sp>
        <p:nvSpPr>
          <p:cNvPr id="12" name="close-num-2">
            <a:extLst xmlns:a="http://schemas.openxmlformats.org/drawingml/2006/main">
              <a:ext uri="{FF2B5EF4-FFF2-40B4-BE49-F238E27FC236}">
                <a16:creationId xmlns:a16="http://schemas.microsoft.com/office/drawing/2014/main" id="{0CE3F962-CA6B-46D8-8329-50B06980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90750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close-heading-2">
            <a:extLst xmlns:a="http://schemas.openxmlformats.org/drawingml/2006/main">
              <a:ext uri="{FF2B5EF4-FFF2-40B4-BE49-F238E27FC236}">
                <a16:creationId xmlns:a16="http://schemas.microsoft.com/office/drawing/2014/main" id="{F5FFBC06-719A-4A75-AE06-B71ADA44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48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Capture evidence</a:t>
            </a:r>
          </a:p>
        </p:txBody>
      </p:sp>
      <p:sp>
        <p:nvSpPr>
          <p:cNvPr id="14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BBC8F0DA-6733-48E0-96BF-D8982EF2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100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672"/>
                </a:solidFill>
                <a:latin typeface="Arial"/>
                <a:ea typeface="Arial"/>
                <a:cs typeface="Arial"/>
              </a:rPr>
              <a:t>Reconciliation, dashboards, screenshots, recovery under two hours</a:t>
            </a:r>
          </a:p>
        </p:txBody>
      </p:sp>
      <p:sp>
        <p:nvSpPr>
          <p:cNvPr id="15" name="close-line">
            <a:extLst xmlns:a="http://schemas.openxmlformats.org/drawingml/2006/main">
              <a:ext uri="{FF2B5EF4-FFF2-40B4-BE49-F238E27FC236}">
                <a16:creationId xmlns:a16="http://schemas.microsoft.com/office/drawing/2014/main" id="{A8E62B8F-F02A-46F0-92B1-CA17D3E2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Declare completion only when every required gate has evidence—not because the code exists.</a:t>
            </a:r>
          </a:p>
        </p:txBody>
      </p:sp>
    </p:spTree>
    <p:extLst>
      <p:ext uri="{BB962C8B-B14F-4D97-AF65-F5344CB8AC3E}">
        <p14:creationId xmlns:p14="http://schemas.microsoft.com/office/powerpoint/2010/main" val="16123475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2026-08-15T04:46:07.8090000Z</dcterms:created>
  <dcterms:modified xsi:type="dcterms:W3CDTF">2026-08-15T04:46:07.8090000Z</dcterms:modified>
</coreProperties>
</file>